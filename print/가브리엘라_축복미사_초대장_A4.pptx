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000" y="432000"/>
            <a:ext cx="648000" cy="5003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0000" y="1062000"/>
            <a:ext cx="61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spc="160">
                <a:solidFill>
                  <a:srgbClr val="157A63"/>
                </a:solidFill>
                <a:latin typeface="나눔고딕"/>
                <a:ea typeface="나눔고딕"/>
                <a:cs typeface="나눔고딕"/>
              </a:rPr>
              <a:t>말기암환자 무료쉼터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314000"/>
            <a:ext cx="61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1C2A25"/>
                </a:solidFill>
                <a:latin typeface="나눔명조"/>
                <a:ea typeface="나눔명조"/>
                <a:cs typeface="나눔명조"/>
              </a:rPr>
              <a:t>가브리엘라 천사의 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18000"/>
            <a:ext cx="61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>
                <a:solidFill>
                  <a:srgbClr val="57665F"/>
                </a:solidFill>
                <a:latin typeface="나눔명조"/>
                <a:ea typeface="나눔명조"/>
                <a:cs typeface="나눔명조"/>
              </a:rPr>
              <a:t>축복미사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20000" y="2214000"/>
            <a:ext cx="6120000" cy="0"/>
          </a:xfrm>
          <a:prstGeom prst="line">
            <a:avLst/>
          </a:prstGeom>
          <a:ln w="13970">
            <a:solidFill>
              <a:srgbClr val="1C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20000" y="2340000"/>
            <a:ext cx="612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C2A25"/>
                </a:solidFill>
                <a:latin typeface="나눔명조"/>
                <a:ea typeface="나눔명조"/>
                <a:cs typeface="나눔명조"/>
              </a:rPr>
              <a:t>2026년 9월 17일 목요일 오전 11시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718000"/>
            <a:ext cx="61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C2A25"/>
                </a:solidFill>
                <a:latin typeface="나눔명조"/>
                <a:ea typeface="나눔명조"/>
                <a:cs typeface="나눔명조"/>
              </a:rPr>
              <a:t>가브리엘라 천사의 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934000"/>
            <a:ext cx="61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7665F"/>
                </a:solidFill>
                <a:latin typeface="나눔명조"/>
                <a:ea typeface="나눔명조"/>
                <a:cs typeface="나눔명조"/>
              </a:rPr>
              <a:t>인천광역시 강화군 화도면 안골길61번길 17-12 (내리 904)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0000" y="3222000"/>
            <a:ext cx="6120000" cy="0"/>
          </a:xfrm>
          <a:prstGeom prst="line">
            <a:avLst/>
          </a:prstGeom>
          <a:ln w="6350">
            <a:solidFill>
              <a:srgbClr val="DDD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hero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3348000"/>
            <a:ext cx="6120000" cy="1260000"/>
          </a:xfrm>
          <a:prstGeom prst="rect">
            <a:avLst/>
          </a:prstGeom>
          <a:ln w="5080">
            <a:solidFill>
              <a:srgbClr val="DDD5C4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20000" y="4680000"/>
            <a:ext cx="61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8A968F"/>
                </a:solidFill>
                <a:latin typeface="나눔명조"/>
                <a:ea typeface="나눔명조"/>
                <a:cs typeface="나눔명조"/>
              </a:rPr>
              <a:t>가브리엘라 천사의 집 조감도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5040000"/>
            <a:ext cx="612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1">
                <a:solidFill>
                  <a:srgbClr val="1C2A25"/>
                </a:solidFill>
                <a:latin typeface="나눔명조"/>
                <a:ea typeface="나눔명조"/>
                <a:cs typeface="나눔명조"/>
              </a:rPr>
              <a:t>환자와 가족이 삶의 마지막 여정을 두려움이 아닌</a:t>
            </a:r>
          </a:p>
          <a:p>
            <a:pPr algn="ctr">
              <a:lnSpc>
                <a:spcPct val="150000"/>
              </a:lnSpc>
            </a:pPr>
            <a:r>
              <a:rPr sz="1050" b="1">
                <a:solidFill>
                  <a:srgbClr val="1C2A25"/>
                </a:solidFill>
                <a:latin typeface="나눔명조"/>
                <a:ea typeface="나눔명조"/>
                <a:cs typeface="나눔명조"/>
              </a:rPr>
              <a:t>사랑과 감사 속에서 준비할 수 있도록 돕는 무료 돌봄시설입니다.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5616000"/>
            <a:ext cx="61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1">
                <a:solidFill>
                  <a:srgbClr val="157A63"/>
                </a:solidFill>
                <a:latin typeface="나눔명조"/>
                <a:ea typeface="나눔명조"/>
                <a:cs typeface="나눔명조"/>
              </a:rPr>
              <a:t>죽음을 기다리는 곳이 아니라 삶을 완성하는 곳!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5976000"/>
            <a:ext cx="61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C2A25"/>
                </a:solidFill>
                <a:latin typeface="나눔명조"/>
                <a:ea typeface="나눔명조"/>
                <a:cs typeface="나눔명조"/>
              </a:rPr>
              <a:t>종교와 관계없이 무료 쉼터와 돌봄을 제공하는 이곳은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C2A25"/>
                </a:solidFill>
                <a:latin typeface="나눔명조"/>
                <a:ea typeface="나눔명조"/>
                <a:cs typeface="나눔명조"/>
              </a:rPr>
              <a:t>소중한 분들의 기도와 성원에 힘입어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C2A25"/>
                </a:solidFill>
                <a:latin typeface="나눔명조"/>
                <a:ea typeface="나눔명조"/>
                <a:cs typeface="나눔명조"/>
              </a:rPr>
              <a:t>하느님 사랑의 터전을 이루게 되었습니다.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6696000"/>
            <a:ext cx="61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C2A25"/>
                </a:solidFill>
                <a:latin typeface="나눔명조"/>
                <a:ea typeface="나눔명조"/>
                <a:cs typeface="나눔명조"/>
              </a:rPr>
              <a:t>이제 첫 문을 여는 자리에 소중한 여러분을 모시고자 합니다.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0000" y="7128000"/>
            <a:ext cx="6120000" cy="0"/>
          </a:xfrm>
          <a:prstGeom prst="line">
            <a:avLst/>
          </a:prstGeom>
          <a:ln w="6350">
            <a:solidFill>
              <a:srgbClr val="DDD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0000" y="7272000"/>
            <a:ext cx="61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spc="220">
                <a:solidFill>
                  <a:srgbClr val="157A63"/>
                </a:solidFill>
                <a:latin typeface="나눔고딕"/>
                <a:ea typeface="나눔고딕"/>
                <a:cs typeface="나눔고딕"/>
              </a:rPr>
              <a:t>식  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7596000"/>
            <a:ext cx="57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57A63"/>
                </a:solidFill>
                <a:latin typeface="나눔명조"/>
                <a:ea typeface="나눔명조"/>
                <a:cs typeface="나눔명조"/>
              </a:rPr>
              <a:t>11:00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6000" y="7596000"/>
            <a:ext cx="5364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C2A25"/>
                </a:solidFill>
                <a:latin typeface="나눔명조"/>
                <a:ea typeface="나눔명조"/>
                <a:cs typeface="나눔명조"/>
              </a:rPr>
              <a:t>축복미사   </a:t>
            </a:r>
            <a:r>
              <a:rPr sz="900" b="0">
                <a:solidFill>
                  <a:srgbClr val="57665F"/>
                </a:solidFill>
                <a:latin typeface="나눔명조"/>
                <a:ea typeface="나눔명조"/>
                <a:cs typeface="나눔명조"/>
              </a:rPr>
              <a:t>인천교구장 정신철 요한 세례자 주교 주례 · 염수정 안드레아 추기경, 사제단 공동집전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0000" y="7812000"/>
            <a:ext cx="6120000" cy="0"/>
          </a:xfrm>
          <a:prstGeom prst="line">
            <a:avLst/>
          </a:prstGeom>
          <a:ln w="3810">
            <a:solidFill>
              <a:srgbClr val="DDD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20000" y="7884000"/>
            <a:ext cx="57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57A63"/>
                </a:solidFill>
                <a:latin typeface="나눔명조"/>
                <a:ea typeface="나눔명조"/>
                <a:cs typeface="나눔명조"/>
              </a:rPr>
              <a:t>12:20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6000" y="7884000"/>
            <a:ext cx="5364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C2A25"/>
                </a:solidFill>
                <a:latin typeface="나눔명조"/>
                <a:ea typeface="나눔명조"/>
                <a:cs typeface="나눔명조"/>
              </a:rPr>
              <a:t>기념식   </a:t>
            </a:r>
            <a:r>
              <a:rPr sz="900" b="0">
                <a:solidFill>
                  <a:srgbClr val="57665F"/>
                </a:solidFill>
                <a:latin typeface="나눔명조"/>
                <a:ea typeface="나눔명조"/>
                <a:cs typeface="나눔명조"/>
              </a:rPr>
              <a:t>재단 임·직원, 내·외빈 참석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0000" y="8100000"/>
            <a:ext cx="6120000" cy="0"/>
          </a:xfrm>
          <a:prstGeom prst="line">
            <a:avLst/>
          </a:prstGeom>
          <a:ln w="3810">
            <a:solidFill>
              <a:srgbClr val="DDD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0000" y="8172000"/>
            <a:ext cx="57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57A63"/>
                </a:solidFill>
                <a:latin typeface="나눔명조"/>
                <a:ea typeface="나눔명조"/>
                <a:cs typeface="나눔명조"/>
              </a:rPr>
              <a:t>이후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6000" y="8172000"/>
            <a:ext cx="5364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C2A25"/>
                </a:solidFill>
                <a:latin typeface="나눔명조"/>
                <a:ea typeface="나눔명조"/>
                <a:cs typeface="나눔명조"/>
              </a:rPr>
              <a:t>오찬   </a:t>
            </a:r>
            <a:r>
              <a:rPr sz="900" b="0">
                <a:solidFill>
                  <a:srgbClr val="57665F"/>
                </a:solidFill>
                <a:latin typeface="나눔명조"/>
                <a:ea typeface="나눔명조"/>
                <a:cs typeface="나눔명조"/>
              </a:rPr>
              <a:t>식사가 제공됩니다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0000" y="8604000"/>
            <a:ext cx="6120000" cy="0"/>
          </a:xfrm>
          <a:prstGeom prst="line">
            <a:avLst/>
          </a:prstGeom>
          <a:ln w="6350">
            <a:solidFill>
              <a:srgbClr val="DDD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20000" y="8748000"/>
            <a:ext cx="295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80">
                <a:solidFill>
                  <a:srgbClr val="157A63"/>
                </a:solidFill>
                <a:latin typeface="나눔고딕"/>
                <a:ea typeface="나눔고딕"/>
                <a:cs typeface="나눔고딕"/>
              </a:rPr>
              <a:t>준비해 주세요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8946000"/>
            <a:ext cx="2952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C2A25"/>
                </a:solidFill>
                <a:latin typeface="나눔명조"/>
                <a:ea typeface="나눔명조"/>
                <a:cs typeface="나눔명조"/>
              </a:rPr>
              <a:t>야외미사 집전입니다. 양산·모자 등 햇빛을 가릴 것과 개인 텀블러를 지참해 주시면 좋겠습니다.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8000" y="8748000"/>
            <a:ext cx="295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80">
                <a:solidFill>
                  <a:srgbClr val="157A63"/>
                </a:solidFill>
                <a:latin typeface="나눔고딕"/>
                <a:ea typeface="나눔고딕"/>
                <a:cs typeface="나눔고딕"/>
              </a:rPr>
              <a:t>주차 안내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8000" y="8946000"/>
            <a:ext cx="2952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C2A25"/>
                </a:solidFill>
                <a:latin typeface="나눔명조"/>
                <a:ea typeface="나눔명조"/>
                <a:cs typeface="나눔명조"/>
              </a:rPr>
              <a:t>주차공간 부족으로 차량이동 분들께서는 마니산 공영 주차장을 이용하시고 행사장까지 차량이동 안내 받으시기 바랍니다.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8000" y="9468000"/>
            <a:ext cx="295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57665F"/>
                </a:solidFill>
                <a:latin typeface="나눔명조"/>
                <a:ea typeface="나눔명조"/>
                <a:cs typeface="나눔명조"/>
              </a:rPr>
              <a:t>인천광역시 강화군 화도면 마니산로675번길 18 (상방리 405-4)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20000" y="9756000"/>
            <a:ext cx="6120000" cy="0"/>
          </a:xfrm>
          <a:prstGeom prst="line">
            <a:avLst/>
          </a:prstGeom>
          <a:ln w="13970">
            <a:solidFill>
              <a:srgbClr val="1C2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0000" y="9882000"/>
            <a:ext cx="61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C2A25"/>
                </a:solidFill>
                <a:latin typeface="나눔명조"/>
                <a:ea typeface="나눔명조"/>
                <a:cs typeface="나눔명조"/>
              </a:rPr>
              <a:t>재단법인 마뗄암재단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10116000"/>
            <a:ext cx="61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spc="60">
                <a:solidFill>
                  <a:srgbClr val="8A968F"/>
                </a:solidFill>
                <a:latin typeface="나눔고딕"/>
                <a:ea typeface="나눔고딕"/>
                <a:cs typeface="나눔고딕"/>
              </a:rPr>
              <a:t>Mater Cancer Foundation · www.mcancer.com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